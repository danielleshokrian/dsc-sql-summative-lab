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2377440"/>
            <a:ext cx="9144000" cy="365760"/>
          </a:xfrm>
          <a:prstGeom prst="rect">
            <a:avLst/>
          </a:prstGeom>
          <a:noFill/>
        </p:spPr>
        <p:txBody>
          <a:bodyPr wrap="square">
            <a:spAutoFit/>
          </a:bodyPr>
          <a:lstStyle/>
          <a:p>
            <a:pPr algn="l"/>
            <a:r>
              <a:rPr sz="1400" b="1" i="0">
                <a:solidFill>
                  <a:srgbClr val="3B6E8F"/>
                </a:solidFill>
                <a:latin typeface="Verdana"/>
              </a:rPr>
              <a:t>IMDB CATALOG, 2010–2019</a:t>
            </a:r>
          </a:p>
        </p:txBody>
      </p:sp>
      <p:sp>
        <p:nvSpPr>
          <p:cNvPr id="3" name="TextBox 2"/>
          <p:cNvSpPr txBox="1"/>
          <p:nvPr/>
        </p:nvSpPr>
        <p:spPr>
          <a:xfrm>
            <a:off x="640080" y="2743200"/>
            <a:ext cx="10515600" cy="1463040"/>
          </a:xfrm>
          <a:prstGeom prst="rect">
            <a:avLst/>
          </a:prstGeom>
          <a:noFill/>
        </p:spPr>
        <p:txBody>
          <a:bodyPr wrap="square">
            <a:spAutoFit/>
          </a:bodyPr>
          <a:lstStyle/>
          <a:p>
            <a:pPr algn="l"/>
            <a:r>
              <a:rPr sz="3600" b="1" i="0">
                <a:solidFill>
                  <a:srgbClr val="1A1A1A"/>
                </a:solidFill>
                <a:latin typeface="Georgia"/>
              </a:rPr>
              <a:t>Ratings tell a different story than audiences do</a:t>
            </a:r>
          </a:p>
        </p:txBody>
      </p:sp>
      <p:sp>
        <p:nvSpPr>
          <p:cNvPr id="4" name="TextBox 3"/>
          <p:cNvSpPr txBox="1"/>
          <p:nvPr/>
        </p:nvSpPr>
        <p:spPr>
          <a:xfrm>
            <a:off x="640080" y="3749039"/>
            <a:ext cx="8686800" cy="548640"/>
          </a:xfrm>
          <a:prstGeom prst="rect">
            <a:avLst/>
          </a:prstGeom>
          <a:noFill/>
        </p:spPr>
        <p:txBody>
          <a:bodyPr wrap="square">
            <a:spAutoFit/>
          </a:bodyPr>
          <a:lstStyle/>
          <a:p>
            <a:pPr algn="l"/>
            <a:r>
              <a:rPr sz="1600" b="0" i="1">
                <a:solidFill>
                  <a:srgbClr val="5A5A5A"/>
                </a:solidFill>
                <a:latin typeface="Georgia"/>
              </a:rPr>
              <a:t>A first look at what the IMDB movie tables reveal, where the gaps are, and what's worth chasing next.</a:t>
            </a:r>
          </a:p>
        </p:txBody>
      </p:sp>
      <p:sp>
        <p:nvSpPr>
          <p:cNvPr id="5" name="Rectangle 4"/>
          <p:cNvSpPr/>
          <p:nvPr/>
        </p:nvSpPr>
        <p:spPr>
          <a:xfrm>
            <a:off x="640080" y="4434840"/>
            <a:ext cx="2743200" cy="12700"/>
          </a:xfrm>
          <a:prstGeom prst="rect">
            <a:avLst/>
          </a:prstGeom>
          <a:solidFill>
            <a:srgbClr val="CFC9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035040"/>
            <a:ext cx="5486400" cy="365760"/>
          </a:xfrm>
          <a:prstGeom prst="rect">
            <a:avLst/>
          </a:prstGeom>
          <a:noFill/>
        </p:spPr>
        <p:txBody>
          <a:bodyPr wrap="square">
            <a:spAutoFit/>
          </a:bodyPr>
          <a:lstStyle/>
          <a:p>
            <a:pPr algn="l"/>
            <a:r>
              <a:rPr sz="1200" b="0" i="0">
                <a:solidFill>
                  <a:srgbClr val="5A5A5A"/>
                </a:solidFill>
                <a:latin typeface="Verdana"/>
              </a:rPr>
              <a:t>Danielle Shokrian  —  Part 2 Exploratory Analysis</a:t>
            </a:r>
          </a:p>
        </p:txBody>
      </p:sp>
      <p:sp>
        <p:nvSpPr>
          <p:cNvPr id="7" name="TextBox 6"/>
          <p:cNvSpPr txBox="1"/>
          <p:nvPr/>
        </p:nvSpPr>
        <p:spPr>
          <a:xfrm>
            <a:off x="11430000" y="6400800"/>
            <a:ext cx="548640" cy="365760"/>
          </a:xfrm>
          <a:prstGeom prst="rect">
            <a:avLst/>
          </a:prstGeom>
          <a:noFill/>
        </p:spPr>
        <p:txBody>
          <a:bodyPr wrap="square">
            <a:spAutoFit/>
          </a:bodyPr>
          <a:lstStyle/>
          <a:p>
            <a:pPr algn="l"/>
            <a:r>
              <a:rPr sz="1100" b="0" i="0">
                <a:solidFill>
                  <a:srgbClr val="5A5A5A"/>
                </a:solidFill>
                <a:latin typeface="Verdana"/>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411480"/>
            <a:ext cx="5486400" cy="365760"/>
          </a:xfrm>
          <a:prstGeom prst="rect">
            <a:avLst/>
          </a:prstGeom>
          <a:noFill/>
        </p:spPr>
        <p:txBody>
          <a:bodyPr wrap="square">
            <a:spAutoFit/>
          </a:bodyPr>
          <a:lstStyle/>
          <a:p>
            <a:pPr algn="l"/>
            <a:r>
              <a:rPr sz="1300" b="1" i="0">
                <a:solidFill>
                  <a:srgbClr val="3B6E8F"/>
                </a:solidFill>
                <a:latin typeface="Verdana"/>
              </a:rPr>
              <a:t>WHAT THE DATA SHOWS</a:t>
            </a:r>
          </a:p>
        </p:txBody>
      </p:sp>
      <p:sp>
        <p:nvSpPr>
          <p:cNvPr id="3" name="TextBox 2"/>
          <p:cNvSpPr txBox="1"/>
          <p:nvPr/>
        </p:nvSpPr>
        <p:spPr>
          <a:xfrm>
            <a:off x="640080" y="777240"/>
            <a:ext cx="9144000" cy="731520"/>
          </a:xfrm>
          <a:prstGeom prst="rect">
            <a:avLst/>
          </a:prstGeom>
          <a:noFill/>
        </p:spPr>
        <p:txBody>
          <a:bodyPr wrap="square">
            <a:spAutoFit/>
          </a:bodyPr>
          <a:lstStyle/>
          <a:p>
            <a:pPr algn="l"/>
            <a:r>
              <a:rPr sz="2600" b="1" i="0">
                <a:solidFill>
                  <a:srgbClr val="1A1A1A"/>
                </a:solidFill>
                <a:latin typeface="Georgia"/>
              </a:rPr>
              <a:t>Genre tags are crowded, and engagement isn't evenly spread</a:t>
            </a:r>
          </a:p>
        </p:txBody>
      </p:sp>
      <p:sp>
        <p:nvSpPr>
          <p:cNvPr id="4" name="Rectangle 3"/>
          <p:cNvSpPr/>
          <p:nvPr/>
        </p:nvSpPr>
        <p:spPr>
          <a:xfrm>
            <a:off x="640080" y="1508760"/>
            <a:ext cx="10881360" cy="12700"/>
          </a:xfrm>
          <a:prstGeom prst="rect">
            <a:avLst/>
          </a:prstGeom>
          <a:solidFill>
            <a:srgbClr val="CFC9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74519"/>
            <a:ext cx="3291840" cy="1051560"/>
          </a:xfrm>
          <a:prstGeom prst="rect">
            <a:avLst/>
          </a:prstGeom>
          <a:noFill/>
        </p:spPr>
        <p:txBody>
          <a:bodyPr wrap="square">
            <a:spAutoFit/>
          </a:bodyPr>
          <a:lstStyle/>
          <a:p>
            <a:pPr algn="l">
              <a:lnSpc>
                <a:spcPct val="105000"/>
              </a:lnSpc>
            </a:pPr>
            <a:r>
              <a:rPr sz="1600" b="1" i="0">
                <a:solidFill>
                  <a:srgbClr val="3B6E8F"/>
                </a:solidFill>
                <a:latin typeface="Georgia"/>
              </a:rPr>
              <a:t>30,788 / 17,753 / 17,290</a:t>
            </a:r>
          </a:p>
        </p:txBody>
      </p:sp>
      <p:sp>
        <p:nvSpPr>
          <p:cNvPr id="6" name="TextBox 5"/>
          <p:cNvSpPr txBox="1"/>
          <p:nvPr/>
        </p:nvSpPr>
        <p:spPr>
          <a:xfrm>
            <a:off x="4114800" y="1874519"/>
            <a:ext cx="7315200" cy="1051560"/>
          </a:xfrm>
          <a:prstGeom prst="rect">
            <a:avLst/>
          </a:prstGeom>
          <a:noFill/>
        </p:spPr>
        <p:txBody>
          <a:bodyPr wrap="square">
            <a:spAutoFit/>
          </a:bodyPr>
          <a:lstStyle/>
          <a:p>
            <a:pPr algn="l">
              <a:lnSpc>
                <a:spcPct val="115000"/>
              </a:lnSpc>
            </a:pPr>
            <a:r>
              <a:rPr sz="1400" b="0" i="0">
                <a:solidFill>
                  <a:srgbClr val="1A1A1A"/>
                </a:solidFill>
                <a:latin typeface="Georgia"/>
              </a:rPr>
              <a:t>Drama, Documentary, and Comedy dominate the catalog by title count — nearly half of every rated movie carries one of these three tags.</a:t>
            </a:r>
          </a:p>
        </p:txBody>
      </p:sp>
      <p:sp>
        <p:nvSpPr>
          <p:cNvPr id="7" name="Rectangle 6"/>
          <p:cNvSpPr/>
          <p:nvPr/>
        </p:nvSpPr>
        <p:spPr>
          <a:xfrm>
            <a:off x="640080" y="2788919"/>
            <a:ext cx="10881360" cy="9525"/>
          </a:xfrm>
          <a:prstGeom prst="rect">
            <a:avLst/>
          </a:prstGeom>
          <a:solidFill>
            <a:srgbClr val="E5E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26079"/>
            <a:ext cx="3291840" cy="1051560"/>
          </a:xfrm>
          <a:prstGeom prst="rect">
            <a:avLst/>
          </a:prstGeom>
          <a:noFill/>
        </p:spPr>
        <p:txBody>
          <a:bodyPr wrap="square">
            <a:spAutoFit/>
          </a:bodyPr>
          <a:lstStyle/>
          <a:p>
            <a:pPr algn="l">
              <a:lnSpc>
                <a:spcPct val="105000"/>
              </a:lnSpc>
            </a:pPr>
            <a:r>
              <a:rPr sz="1600" b="1" i="0">
                <a:solidFill>
                  <a:srgbClr val="3B6E8F"/>
                </a:solidFill>
                <a:latin typeface="Georgia"/>
              </a:rPr>
              <a:t>Most titles carry 2–3 genre tags at once</a:t>
            </a:r>
          </a:p>
        </p:txBody>
      </p:sp>
      <p:sp>
        <p:nvSpPr>
          <p:cNvPr id="9" name="TextBox 8"/>
          <p:cNvSpPr txBox="1"/>
          <p:nvPr/>
        </p:nvSpPr>
        <p:spPr>
          <a:xfrm>
            <a:off x="4114800" y="2926079"/>
            <a:ext cx="7315200" cy="1051560"/>
          </a:xfrm>
          <a:prstGeom prst="rect">
            <a:avLst/>
          </a:prstGeom>
          <a:noFill/>
        </p:spPr>
        <p:txBody>
          <a:bodyPr wrap="square">
            <a:spAutoFit/>
          </a:bodyPr>
          <a:lstStyle/>
          <a:p>
            <a:pPr algn="l">
              <a:lnSpc>
                <a:spcPct val="115000"/>
              </a:lnSpc>
            </a:pPr>
            <a:r>
              <a:rPr sz="1400" b="0" i="0">
                <a:solidFill>
                  <a:srgbClr val="1A1A1A"/>
                </a:solidFill>
                <a:latin typeface="Georgia"/>
              </a:rPr>
              <a:t>"Comedy,Drama,Romance" and similar combinations are common, so a movie tagged this way needs to be split and counted under each genre, not treated as its own category.</a:t>
            </a:r>
          </a:p>
        </p:txBody>
      </p:sp>
      <p:sp>
        <p:nvSpPr>
          <p:cNvPr id="10" name="Rectangle 9"/>
          <p:cNvSpPr/>
          <p:nvPr/>
        </p:nvSpPr>
        <p:spPr>
          <a:xfrm>
            <a:off x="640080" y="3840479"/>
            <a:ext cx="10881360" cy="9525"/>
          </a:xfrm>
          <a:prstGeom prst="rect">
            <a:avLst/>
          </a:prstGeom>
          <a:solidFill>
            <a:srgbClr val="E5E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977639"/>
            <a:ext cx="3291840" cy="1051560"/>
          </a:xfrm>
          <a:prstGeom prst="rect">
            <a:avLst/>
          </a:prstGeom>
          <a:noFill/>
        </p:spPr>
        <p:txBody>
          <a:bodyPr wrap="square">
            <a:spAutoFit/>
          </a:bodyPr>
          <a:lstStyle/>
          <a:p>
            <a:pPr algn="l">
              <a:lnSpc>
                <a:spcPct val="105000"/>
              </a:lnSpc>
            </a:pPr>
            <a:r>
              <a:rPr sz="1600" b="1" i="0">
                <a:solidFill>
                  <a:srgbClr val="3B6E8F"/>
                </a:solidFill>
                <a:latin typeface="Georgia"/>
              </a:rPr>
              <a:t>7,620 missing runtimes · 804 missing genre tags</a:t>
            </a:r>
          </a:p>
        </p:txBody>
      </p:sp>
      <p:sp>
        <p:nvSpPr>
          <p:cNvPr id="12" name="TextBox 11"/>
          <p:cNvSpPr txBox="1"/>
          <p:nvPr/>
        </p:nvSpPr>
        <p:spPr>
          <a:xfrm>
            <a:off x="4114800" y="3977639"/>
            <a:ext cx="7315200" cy="1051560"/>
          </a:xfrm>
          <a:prstGeom prst="rect">
            <a:avLst/>
          </a:prstGeom>
          <a:noFill/>
        </p:spPr>
        <p:txBody>
          <a:bodyPr wrap="square">
            <a:spAutoFit/>
          </a:bodyPr>
          <a:lstStyle/>
          <a:p>
            <a:pPr algn="l">
              <a:lnSpc>
                <a:spcPct val="115000"/>
              </a:lnSpc>
            </a:pPr>
            <a:r>
              <a:rPr sz="1400" b="0" i="0">
                <a:solidFill>
                  <a:srgbClr val="1A1A1A"/>
                </a:solidFill>
                <a:latin typeface="Georgia"/>
              </a:rPr>
              <a:t>Both fields have real gaps in the movie_basics table that had to be excluded outright — no filling in, per the assignment's instructions.</a:t>
            </a:r>
          </a:p>
        </p:txBody>
      </p:sp>
      <p:sp>
        <p:nvSpPr>
          <p:cNvPr id="13" name="Rectangle 12"/>
          <p:cNvSpPr/>
          <p:nvPr/>
        </p:nvSpPr>
        <p:spPr>
          <a:xfrm>
            <a:off x="640080" y="4892039"/>
            <a:ext cx="10881360" cy="9525"/>
          </a:xfrm>
          <a:prstGeom prst="rect">
            <a:avLst/>
          </a:prstGeom>
          <a:solidFill>
            <a:srgbClr val="E5E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029199"/>
            <a:ext cx="3291840" cy="1051560"/>
          </a:xfrm>
          <a:prstGeom prst="rect">
            <a:avLst/>
          </a:prstGeom>
          <a:noFill/>
        </p:spPr>
        <p:txBody>
          <a:bodyPr wrap="square">
            <a:spAutoFit/>
          </a:bodyPr>
          <a:lstStyle/>
          <a:p>
            <a:pPr algn="l">
              <a:lnSpc>
                <a:spcPct val="105000"/>
              </a:lnSpc>
            </a:pPr>
            <a:r>
              <a:rPr sz="1600" b="1" i="0">
                <a:solidFill>
                  <a:srgbClr val="3B6E8F"/>
                </a:solidFill>
                <a:latin typeface="Georgia"/>
              </a:rPr>
              <a:t>Reach and acclaim move independently</a:t>
            </a:r>
          </a:p>
        </p:txBody>
      </p:sp>
      <p:sp>
        <p:nvSpPr>
          <p:cNvPr id="15" name="TextBox 14"/>
          <p:cNvSpPr txBox="1"/>
          <p:nvPr/>
        </p:nvSpPr>
        <p:spPr>
          <a:xfrm>
            <a:off x="4114800" y="5029199"/>
            <a:ext cx="7315200" cy="1051560"/>
          </a:xfrm>
          <a:prstGeom prst="rect">
            <a:avLst/>
          </a:prstGeom>
          <a:noFill/>
        </p:spPr>
        <p:txBody>
          <a:bodyPr wrap="square">
            <a:spAutoFit/>
          </a:bodyPr>
          <a:lstStyle/>
          <a:p>
            <a:pPr algn="l">
              <a:lnSpc>
                <a:spcPct val="115000"/>
              </a:lnSpc>
            </a:pPr>
            <a:r>
              <a:rPr sz="1400" b="0" i="0">
                <a:solidFill>
                  <a:srgbClr val="1A1A1A"/>
                </a:solidFill>
                <a:latin typeface="Georgia"/>
              </a:rPr>
              <a:t>Documentary titles average a 7.3 rating but draw only ~270 votes per title; Adventure titles average a lower 6.2 rating but draw over 22,000 votes.</a:t>
            </a:r>
          </a:p>
        </p:txBody>
      </p:sp>
      <p:sp>
        <p:nvSpPr>
          <p:cNvPr id="16" name="TextBox 15"/>
          <p:cNvSpPr txBox="1"/>
          <p:nvPr/>
        </p:nvSpPr>
        <p:spPr>
          <a:xfrm>
            <a:off x="11430000" y="6400800"/>
            <a:ext cx="548640" cy="365760"/>
          </a:xfrm>
          <a:prstGeom prst="rect">
            <a:avLst/>
          </a:prstGeom>
          <a:noFill/>
        </p:spPr>
        <p:txBody>
          <a:bodyPr wrap="square">
            <a:spAutoFit/>
          </a:bodyPr>
          <a:lstStyle/>
          <a:p>
            <a:pPr algn="l"/>
            <a:r>
              <a:rPr sz="1100" b="0" i="0">
                <a:solidFill>
                  <a:srgbClr val="5A5A5A"/>
                </a:solidFill>
                <a:latin typeface="Verdana"/>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411480"/>
            <a:ext cx="5486400" cy="365760"/>
          </a:xfrm>
          <a:prstGeom prst="rect">
            <a:avLst/>
          </a:prstGeom>
          <a:noFill/>
        </p:spPr>
        <p:txBody>
          <a:bodyPr wrap="square">
            <a:spAutoFit/>
          </a:bodyPr>
          <a:lstStyle/>
          <a:p>
            <a:pPr algn="l"/>
            <a:r>
              <a:rPr sz="1300" b="1" i="0">
                <a:solidFill>
                  <a:srgbClr val="3B6E8F"/>
                </a:solidFill>
                <a:latin typeface="Verdana"/>
              </a:rPr>
              <a:t>ENGAGEMENT VS. ACCLAIM</a:t>
            </a:r>
          </a:p>
        </p:txBody>
      </p:sp>
      <p:sp>
        <p:nvSpPr>
          <p:cNvPr id="3" name="TextBox 2"/>
          <p:cNvSpPr txBox="1"/>
          <p:nvPr/>
        </p:nvSpPr>
        <p:spPr>
          <a:xfrm>
            <a:off x="640080" y="777240"/>
            <a:ext cx="10058400" cy="731520"/>
          </a:xfrm>
          <a:prstGeom prst="rect">
            <a:avLst/>
          </a:prstGeom>
          <a:noFill/>
        </p:spPr>
        <p:txBody>
          <a:bodyPr wrap="square">
            <a:spAutoFit/>
          </a:bodyPr>
          <a:lstStyle/>
          <a:p>
            <a:pPr algn="l"/>
            <a:r>
              <a:rPr sz="2600" b="1" i="0">
                <a:solidFill>
                  <a:srgbClr val="1A1A1A"/>
                </a:solidFill>
                <a:latin typeface="Georgia"/>
              </a:rPr>
              <a:t>Action and Adventure pull crowds; Documentary pulls praise</a:t>
            </a:r>
          </a:p>
        </p:txBody>
      </p:sp>
      <p:pic>
        <p:nvPicPr>
          <p:cNvPr id="4" name="Picture 3" descr="genre_votes_chart.png"/>
          <p:cNvPicPr>
            <a:picLocks noChangeAspect="1"/>
          </p:cNvPicPr>
          <p:nvPr/>
        </p:nvPicPr>
        <p:blipFill>
          <a:blip r:embed="rId2"/>
          <a:stretch>
            <a:fillRect/>
          </a:stretch>
        </p:blipFill>
        <p:spPr>
          <a:xfrm>
            <a:off x="1005840" y="1600200"/>
            <a:ext cx="7913077" cy="4572000"/>
          </a:xfrm>
          <a:prstGeom prst="rect">
            <a:avLst/>
          </a:prstGeom>
        </p:spPr>
      </p:pic>
      <p:sp>
        <p:nvSpPr>
          <p:cNvPr id="5" name="TextBox 4"/>
          <p:cNvSpPr txBox="1"/>
          <p:nvPr/>
        </p:nvSpPr>
        <p:spPr>
          <a:xfrm>
            <a:off x="8778240" y="1920240"/>
            <a:ext cx="2926080" cy="3840480"/>
          </a:xfrm>
          <a:prstGeom prst="rect">
            <a:avLst/>
          </a:prstGeom>
          <a:noFill/>
        </p:spPr>
        <p:txBody>
          <a:bodyPr wrap="square">
            <a:spAutoFit/>
          </a:bodyPr>
          <a:lstStyle/>
          <a:p>
            <a:pPr algn="l">
              <a:lnSpc>
                <a:spcPct val="120000"/>
              </a:lnSpc>
            </a:pPr>
            <a:r>
              <a:rPr sz="1300" b="0" i="0">
                <a:solidFill>
                  <a:srgbClr val="5A5A5A"/>
                </a:solidFill>
                <a:latin typeface="Verdana"/>
              </a:rPr>
              <a:t>Average vote count per title, by genre (2010–2019). Labels show each genre's average rating for comparison.
Adventure titles draw roughly 80x more votes on average than Documentary titles, despite rating over a full point lower.</a:t>
            </a:r>
          </a:p>
        </p:txBody>
      </p:sp>
      <p:sp>
        <p:nvSpPr>
          <p:cNvPr id="6" name="TextBox 5"/>
          <p:cNvSpPr txBox="1"/>
          <p:nvPr/>
        </p:nvSpPr>
        <p:spPr>
          <a:xfrm>
            <a:off x="11430000" y="6400800"/>
            <a:ext cx="548640" cy="365760"/>
          </a:xfrm>
          <a:prstGeom prst="rect">
            <a:avLst/>
          </a:prstGeom>
          <a:noFill/>
        </p:spPr>
        <p:txBody>
          <a:bodyPr wrap="square">
            <a:spAutoFit/>
          </a:bodyPr>
          <a:lstStyle/>
          <a:p>
            <a:pPr algn="l"/>
            <a:r>
              <a:rPr sz="1100" b="0" i="0">
                <a:solidFill>
                  <a:srgbClr val="5A5A5A"/>
                </a:solidFill>
                <a:latin typeface="Verdana"/>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3B6E8F"/>
        </a:solidFill>
        <a:effectLst/>
      </p:bgPr>
    </p:bg>
    <p:spTree>
      <p:nvGrpSpPr>
        <p:cNvPr id="1" name=""/>
        <p:cNvGrpSpPr/>
        <p:nvPr/>
      </p:nvGrpSpPr>
      <p:grpSpPr/>
      <p:sp>
        <p:nvSpPr>
          <p:cNvPr id="2" name="TextBox 1"/>
          <p:cNvSpPr txBox="1"/>
          <p:nvPr/>
        </p:nvSpPr>
        <p:spPr>
          <a:xfrm>
            <a:off x="640080" y="457200"/>
            <a:ext cx="5486400" cy="365760"/>
          </a:xfrm>
          <a:prstGeom prst="rect">
            <a:avLst/>
          </a:prstGeom>
          <a:noFill/>
        </p:spPr>
        <p:txBody>
          <a:bodyPr wrap="square">
            <a:spAutoFit/>
          </a:bodyPr>
          <a:lstStyle/>
          <a:p>
            <a:pPr algn="l"/>
            <a:r>
              <a:rPr sz="1300" b="1" i="0">
                <a:solidFill>
                  <a:srgbClr val="3B6E8F"/>
                </a:solidFill>
                <a:latin typeface="Verdana"/>
              </a:rPr>
              <a:t>WHERE THIS LEADS</a:t>
            </a:r>
          </a:p>
        </p:txBody>
      </p:sp>
      <p:sp>
        <p:nvSpPr>
          <p:cNvPr id="3" name="TextBox 2"/>
          <p:cNvSpPr txBox="1"/>
          <p:nvPr/>
        </p:nvSpPr>
        <p:spPr>
          <a:xfrm>
            <a:off x="640080" y="457200"/>
            <a:ext cx="9144000" cy="365760"/>
          </a:xfrm>
          <a:prstGeom prst="rect">
            <a:avLst/>
          </a:prstGeom>
          <a:noFill/>
        </p:spPr>
        <p:txBody>
          <a:bodyPr wrap="square">
            <a:spAutoFit/>
          </a:bodyPr>
          <a:lstStyle/>
          <a:p>
            <a:pPr algn="l"/>
            <a:r>
              <a:rPr sz="100" b="0" i="0">
                <a:solidFill>
                  <a:srgbClr val="1A1A1A"/>
                </a:solidFill>
                <a:latin typeface="Georgia"/>
              </a:rPr>
              <a:t/>
            </a:r>
          </a:p>
        </p:txBody>
      </p:sp>
      <p:sp>
        <p:nvSpPr>
          <p:cNvPr id="4" name="TextBox 3"/>
          <p:cNvSpPr txBox="1"/>
          <p:nvPr/>
        </p:nvSpPr>
        <p:spPr>
          <a:xfrm>
            <a:off x="640080" y="1188720"/>
            <a:ext cx="10881360" cy="2377440"/>
          </a:xfrm>
          <a:prstGeom prst="rect">
            <a:avLst/>
          </a:prstGeom>
          <a:noFill/>
        </p:spPr>
        <p:txBody>
          <a:bodyPr wrap="square">
            <a:spAutoFit/>
          </a:bodyPr>
          <a:lstStyle/>
          <a:p>
            <a:pPr>
              <a:lnSpc>
                <a:spcPct val="115000"/>
              </a:lnSpc>
            </a:pPr>
            <a:r>
              <a:rPr sz="3000" b="1">
                <a:solidFill>
                  <a:srgbClr val="FFFFFF"/>
                </a:solidFill>
                <a:latin typeface="Georgia"/>
              </a:rPr>
              <a:t>If a studio could only chase one of these, which genre bet pays off — reach or reputation?</a:t>
            </a:r>
          </a:p>
        </p:txBody>
      </p:sp>
      <p:sp>
        <p:nvSpPr>
          <p:cNvPr id="5" name="TextBox 4"/>
          <p:cNvSpPr txBox="1"/>
          <p:nvPr/>
        </p:nvSpPr>
        <p:spPr>
          <a:xfrm>
            <a:off x="640080" y="3840480"/>
            <a:ext cx="10515600" cy="1463040"/>
          </a:xfrm>
          <a:prstGeom prst="rect">
            <a:avLst/>
          </a:prstGeom>
          <a:noFill/>
        </p:spPr>
        <p:txBody>
          <a:bodyPr wrap="square">
            <a:spAutoFit/>
          </a:bodyPr>
          <a:lstStyle/>
          <a:p>
            <a:pPr algn="l">
              <a:lnSpc>
                <a:spcPct val="125000"/>
              </a:lnSpc>
            </a:pPr>
            <a:r>
              <a:rPr sz="1600" b="0" i="0">
                <a:solidFill>
                  <a:srgbClr val="F0EFE9"/>
                </a:solidFill>
                <a:latin typeface="Georgia"/>
              </a:rPr>
              <a:t>Specifically: do high-vote, average-rated genres like Action and Adventure convert into stronger long-run financial outcomes than high-rated, low-vote genres like Documentary and Biography — and does that tradeoff hold once runtime and release year are controlled for?</a:t>
            </a:r>
          </a:p>
        </p:txBody>
      </p:sp>
      <p:sp>
        <p:nvSpPr>
          <p:cNvPr id="6" name="TextBox 5"/>
          <p:cNvSpPr txBox="1"/>
          <p:nvPr/>
        </p:nvSpPr>
        <p:spPr>
          <a:xfrm>
            <a:off x="11430000" y="6400800"/>
            <a:ext cx="548640" cy="365760"/>
          </a:xfrm>
          <a:prstGeom prst="rect">
            <a:avLst/>
          </a:prstGeom>
          <a:noFill/>
        </p:spPr>
        <p:txBody>
          <a:bodyPr wrap="square">
            <a:spAutoFit/>
          </a:bodyPr>
          <a:lstStyle/>
          <a:p>
            <a:pPr algn="l"/>
            <a:r>
              <a:rPr sz="1100" b="0" i="0">
                <a:solidFill>
                  <a:srgbClr val="5A5A5A"/>
                </a:solidFill>
                <a:latin typeface="Verdana"/>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411480"/>
            <a:ext cx="5486400" cy="365760"/>
          </a:xfrm>
          <a:prstGeom prst="rect">
            <a:avLst/>
          </a:prstGeom>
          <a:noFill/>
        </p:spPr>
        <p:txBody>
          <a:bodyPr wrap="square">
            <a:spAutoFit/>
          </a:bodyPr>
          <a:lstStyle/>
          <a:p>
            <a:pPr algn="l"/>
            <a:r>
              <a:rPr sz="1300" b="1" i="0">
                <a:solidFill>
                  <a:srgbClr val="3B6E8F"/>
                </a:solidFill>
                <a:latin typeface="Verdana"/>
              </a:rPr>
              <a:t>BEFORE ANY OF THAT ANALYSIS HAPPENS</a:t>
            </a:r>
          </a:p>
        </p:txBody>
      </p:sp>
      <p:sp>
        <p:nvSpPr>
          <p:cNvPr id="3" name="TextBox 2"/>
          <p:cNvSpPr txBox="1"/>
          <p:nvPr/>
        </p:nvSpPr>
        <p:spPr>
          <a:xfrm>
            <a:off x="640080" y="777240"/>
            <a:ext cx="10058400" cy="731520"/>
          </a:xfrm>
          <a:prstGeom prst="rect">
            <a:avLst/>
          </a:prstGeom>
          <a:noFill/>
        </p:spPr>
        <p:txBody>
          <a:bodyPr wrap="square">
            <a:spAutoFit/>
          </a:bodyPr>
          <a:lstStyle/>
          <a:p>
            <a:pPr algn="l"/>
            <a:r>
              <a:rPr sz="2600" b="1" i="0">
                <a:solidFill>
                  <a:srgbClr val="1A1A1A"/>
                </a:solidFill>
                <a:latin typeface="Georgia"/>
              </a:rPr>
              <a:t>Four cleanup tasks come first</a:t>
            </a:r>
          </a:p>
        </p:txBody>
      </p:sp>
      <p:sp>
        <p:nvSpPr>
          <p:cNvPr id="4" name="Rectangle 3"/>
          <p:cNvSpPr/>
          <p:nvPr/>
        </p:nvSpPr>
        <p:spPr>
          <a:xfrm>
            <a:off x="640080" y="1508760"/>
            <a:ext cx="10881360" cy="12700"/>
          </a:xfrm>
          <a:prstGeom prst="rect">
            <a:avLst/>
          </a:prstGeom>
          <a:solidFill>
            <a:srgbClr val="CFC9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74519"/>
            <a:ext cx="914400" cy="548640"/>
          </a:xfrm>
          <a:prstGeom prst="rect">
            <a:avLst/>
          </a:prstGeom>
          <a:noFill/>
        </p:spPr>
        <p:txBody>
          <a:bodyPr wrap="square">
            <a:spAutoFit/>
          </a:bodyPr>
          <a:lstStyle/>
          <a:p>
            <a:pPr algn="l"/>
            <a:r>
              <a:rPr sz="2200" b="1" i="0">
                <a:solidFill>
                  <a:srgbClr val="CFC9BD"/>
                </a:solidFill>
                <a:latin typeface="Verdana"/>
              </a:rPr>
              <a:t>01</a:t>
            </a:r>
          </a:p>
        </p:txBody>
      </p:sp>
      <p:sp>
        <p:nvSpPr>
          <p:cNvPr id="6" name="TextBox 5"/>
          <p:cNvSpPr txBox="1"/>
          <p:nvPr/>
        </p:nvSpPr>
        <p:spPr>
          <a:xfrm>
            <a:off x="640080" y="2377439"/>
            <a:ext cx="5257800" cy="457200"/>
          </a:xfrm>
          <a:prstGeom prst="rect">
            <a:avLst/>
          </a:prstGeom>
          <a:noFill/>
        </p:spPr>
        <p:txBody>
          <a:bodyPr wrap="square">
            <a:spAutoFit/>
          </a:bodyPr>
          <a:lstStyle/>
          <a:p>
            <a:pPr algn="l"/>
            <a:r>
              <a:rPr sz="1700" b="1" i="0">
                <a:solidFill>
                  <a:srgbClr val="1A1A1A"/>
                </a:solidFill>
                <a:latin typeface="Georgia"/>
              </a:rPr>
              <a:t>Split combined genre tags</a:t>
            </a:r>
          </a:p>
        </p:txBody>
      </p:sp>
      <p:sp>
        <p:nvSpPr>
          <p:cNvPr id="7" name="TextBox 6"/>
          <p:cNvSpPr txBox="1"/>
          <p:nvPr/>
        </p:nvSpPr>
        <p:spPr>
          <a:xfrm>
            <a:off x="640080" y="2834639"/>
            <a:ext cx="5257800" cy="1097280"/>
          </a:xfrm>
          <a:prstGeom prst="rect">
            <a:avLst/>
          </a:prstGeom>
          <a:noFill/>
        </p:spPr>
        <p:txBody>
          <a:bodyPr wrap="square">
            <a:spAutoFit/>
          </a:bodyPr>
          <a:lstStyle/>
          <a:p>
            <a:pPr algn="l">
              <a:lnSpc>
                <a:spcPct val="120000"/>
              </a:lnSpc>
            </a:pPr>
            <a:r>
              <a:rPr sz="1300" b="0" i="0">
                <a:solidFill>
                  <a:srgbClr val="5A5A5A"/>
                </a:solidFill>
                <a:latin typeface="Georgia"/>
              </a:rPr>
              <a:t>Explode the comma-separated genres column into one row per genre before grouping, so multi-genre titles aren't miscounted.</a:t>
            </a:r>
          </a:p>
        </p:txBody>
      </p:sp>
      <p:sp>
        <p:nvSpPr>
          <p:cNvPr id="8" name="TextBox 7"/>
          <p:cNvSpPr txBox="1"/>
          <p:nvPr/>
        </p:nvSpPr>
        <p:spPr>
          <a:xfrm>
            <a:off x="6263640" y="1874519"/>
            <a:ext cx="914400" cy="548640"/>
          </a:xfrm>
          <a:prstGeom prst="rect">
            <a:avLst/>
          </a:prstGeom>
          <a:noFill/>
        </p:spPr>
        <p:txBody>
          <a:bodyPr wrap="square">
            <a:spAutoFit/>
          </a:bodyPr>
          <a:lstStyle/>
          <a:p>
            <a:pPr algn="l"/>
            <a:r>
              <a:rPr sz="2200" b="1" i="0">
                <a:solidFill>
                  <a:srgbClr val="CFC9BD"/>
                </a:solidFill>
                <a:latin typeface="Verdana"/>
              </a:rPr>
              <a:t>02</a:t>
            </a:r>
          </a:p>
        </p:txBody>
      </p:sp>
      <p:sp>
        <p:nvSpPr>
          <p:cNvPr id="9" name="TextBox 8"/>
          <p:cNvSpPr txBox="1"/>
          <p:nvPr/>
        </p:nvSpPr>
        <p:spPr>
          <a:xfrm>
            <a:off x="6263640" y="2377439"/>
            <a:ext cx="5257800" cy="457200"/>
          </a:xfrm>
          <a:prstGeom prst="rect">
            <a:avLst/>
          </a:prstGeom>
          <a:noFill/>
        </p:spPr>
        <p:txBody>
          <a:bodyPr wrap="square">
            <a:spAutoFit/>
          </a:bodyPr>
          <a:lstStyle/>
          <a:p>
            <a:pPr algn="l"/>
            <a:r>
              <a:rPr sz="1700" b="1" i="0">
                <a:solidFill>
                  <a:srgbClr val="1A1A1A"/>
                </a:solidFill>
                <a:latin typeface="Georgia"/>
              </a:rPr>
              <a:t>Drop, don't fill, missing values</a:t>
            </a:r>
          </a:p>
        </p:txBody>
      </p:sp>
      <p:sp>
        <p:nvSpPr>
          <p:cNvPr id="10" name="TextBox 9"/>
          <p:cNvSpPr txBox="1"/>
          <p:nvPr/>
        </p:nvSpPr>
        <p:spPr>
          <a:xfrm>
            <a:off x="6263640" y="2834639"/>
            <a:ext cx="5257800" cy="1097280"/>
          </a:xfrm>
          <a:prstGeom prst="rect">
            <a:avLst/>
          </a:prstGeom>
          <a:noFill/>
        </p:spPr>
        <p:txBody>
          <a:bodyPr wrap="square">
            <a:spAutoFit/>
          </a:bodyPr>
          <a:lstStyle/>
          <a:p>
            <a:pPr algn="l">
              <a:lnSpc>
                <a:spcPct val="120000"/>
              </a:lnSpc>
            </a:pPr>
            <a:r>
              <a:rPr sz="1300" b="0" i="0">
                <a:solidFill>
                  <a:srgbClr val="5A5A5A"/>
                </a:solidFill>
                <a:latin typeface="Georgia"/>
              </a:rPr>
              <a:t>runtime_minutes and genres both have real nulls; exclude those rows from the relevant analysis rather than imputing a value.</a:t>
            </a:r>
          </a:p>
        </p:txBody>
      </p:sp>
      <p:sp>
        <p:nvSpPr>
          <p:cNvPr id="11" name="TextBox 10"/>
          <p:cNvSpPr txBox="1"/>
          <p:nvPr/>
        </p:nvSpPr>
        <p:spPr>
          <a:xfrm>
            <a:off x="640080" y="4160520"/>
            <a:ext cx="914400" cy="548640"/>
          </a:xfrm>
          <a:prstGeom prst="rect">
            <a:avLst/>
          </a:prstGeom>
          <a:noFill/>
        </p:spPr>
        <p:txBody>
          <a:bodyPr wrap="square">
            <a:spAutoFit/>
          </a:bodyPr>
          <a:lstStyle/>
          <a:p>
            <a:pPr algn="l"/>
            <a:r>
              <a:rPr sz="2200" b="1" i="0">
                <a:solidFill>
                  <a:srgbClr val="CFC9BD"/>
                </a:solidFill>
                <a:latin typeface="Verdana"/>
              </a:rPr>
              <a:t>03</a:t>
            </a:r>
          </a:p>
        </p:txBody>
      </p:sp>
      <p:sp>
        <p:nvSpPr>
          <p:cNvPr id="12" name="TextBox 11"/>
          <p:cNvSpPr txBox="1"/>
          <p:nvPr/>
        </p:nvSpPr>
        <p:spPr>
          <a:xfrm>
            <a:off x="640080" y="4663440"/>
            <a:ext cx="5257800" cy="457200"/>
          </a:xfrm>
          <a:prstGeom prst="rect">
            <a:avLst/>
          </a:prstGeom>
          <a:noFill/>
        </p:spPr>
        <p:txBody>
          <a:bodyPr wrap="square">
            <a:spAutoFit/>
          </a:bodyPr>
          <a:lstStyle/>
          <a:p>
            <a:pPr algn="l"/>
            <a:r>
              <a:rPr sz="1700" b="1" i="0">
                <a:solidFill>
                  <a:srgbClr val="1A1A1A"/>
                </a:solidFill>
                <a:latin typeface="Georgia"/>
              </a:rPr>
              <a:t>Enforce the 2019 cutoff</a:t>
            </a:r>
          </a:p>
        </p:txBody>
      </p:sp>
      <p:sp>
        <p:nvSpPr>
          <p:cNvPr id="13" name="TextBox 12"/>
          <p:cNvSpPr txBox="1"/>
          <p:nvPr/>
        </p:nvSpPr>
        <p:spPr>
          <a:xfrm>
            <a:off x="640080" y="5120640"/>
            <a:ext cx="5257800" cy="1097280"/>
          </a:xfrm>
          <a:prstGeom prst="rect">
            <a:avLst/>
          </a:prstGeom>
          <a:noFill/>
        </p:spPr>
        <p:txBody>
          <a:bodyPr wrap="square">
            <a:spAutoFit/>
          </a:bodyPr>
          <a:lstStyle/>
          <a:p>
            <a:pPr algn="l">
              <a:lnSpc>
                <a:spcPct val="120000"/>
              </a:lnSpc>
            </a:pPr>
            <a:r>
              <a:rPr sz="1300" b="0" i="0">
                <a:solidFill>
                  <a:srgbClr val="5A5A5A"/>
                </a:solidFill>
                <a:latin typeface="Georgia"/>
              </a:rPr>
              <a:t>start_year contains values past 2019; every query needs an explicit filter since the dataset is only validated through that year.</a:t>
            </a:r>
          </a:p>
        </p:txBody>
      </p:sp>
      <p:sp>
        <p:nvSpPr>
          <p:cNvPr id="14" name="TextBox 13"/>
          <p:cNvSpPr txBox="1"/>
          <p:nvPr/>
        </p:nvSpPr>
        <p:spPr>
          <a:xfrm>
            <a:off x="6263640" y="4160520"/>
            <a:ext cx="914400" cy="548640"/>
          </a:xfrm>
          <a:prstGeom prst="rect">
            <a:avLst/>
          </a:prstGeom>
          <a:noFill/>
        </p:spPr>
        <p:txBody>
          <a:bodyPr wrap="square">
            <a:spAutoFit/>
          </a:bodyPr>
          <a:lstStyle/>
          <a:p>
            <a:pPr algn="l"/>
            <a:r>
              <a:rPr sz="2200" b="1" i="0">
                <a:solidFill>
                  <a:srgbClr val="CFC9BD"/>
                </a:solidFill>
                <a:latin typeface="Verdana"/>
              </a:rPr>
              <a:t>04</a:t>
            </a:r>
          </a:p>
        </p:txBody>
      </p:sp>
      <p:sp>
        <p:nvSpPr>
          <p:cNvPr id="15" name="TextBox 14"/>
          <p:cNvSpPr txBox="1"/>
          <p:nvPr/>
        </p:nvSpPr>
        <p:spPr>
          <a:xfrm>
            <a:off x="6263640" y="4663440"/>
            <a:ext cx="5257800" cy="457200"/>
          </a:xfrm>
          <a:prstGeom prst="rect">
            <a:avLst/>
          </a:prstGeom>
          <a:noFill/>
        </p:spPr>
        <p:txBody>
          <a:bodyPr wrap="square">
            <a:spAutoFit/>
          </a:bodyPr>
          <a:lstStyle/>
          <a:p>
            <a:pPr algn="l"/>
            <a:r>
              <a:rPr sz="1700" b="1" i="0">
                <a:solidFill>
                  <a:srgbClr val="1A1A1A"/>
                </a:solidFill>
                <a:latin typeface="Georgia"/>
              </a:rPr>
              <a:t>Watch for join fan-out</a:t>
            </a:r>
          </a:p>
        </p:txBody>
      </p:sp>
      <p:sp>
        <p:nvSpPr>
          <p:cNvPr id="16" name="TextBox 15"/>
          <p:cNvSpPr txBox="1"/>
          <p:nvPr/>
        </p:nvSpPr>
        <p:spPr>
          <a:xfrm>
            <a:off x="6263640" y="5120640"/>
            <a:ext cx="5257800" cy="1097280"/>
          </a:xfrm>
          <a:prstGeom prst="rect">
            <a:avLst/>
          </a:prstGeom>
          <a:noFill/>
        </p:spPr>
        <p:txBody>
          <a:bodyPr wrap="square">
            <a:spAutoFit/>
          </a:bodyPr>
          <a:lstStyle/>
          <a:p>
            <a:pPr algn="l">
              <a:lnSpc>
                <a:spcPct val="120000"/>
              </a:lnSpc>
            </a:pPr>
            <a:r>
              <a:rPr sz="1300" b="0" i="0">
                <a:solidFill>
                  <a:srgbClr val="5A5A5A"/>
                </a:solidFill>
                <a:latin typeface="Georgia"/>
              </a:rPr>
              <a:t>principals, directors, and writers are many-to-many tables — joining them onto movie_basics can multiply rows per movie if not deduplicated first.</a:t>
            </a:r>
          </a:p>
        </p:txBody>
      </p:sp>
      <p:sp>
        <p:nvSpPr>
          <p:cNvPr id="17" name="TextBox 16"/>
          <p:cNvSpPr txBox="1"/>
          <p:nvPr/>
        </p:nvSpPr>
        <p:spPr>
          <a:xfrm>
            <a:off x="11430000" y="6400800"/>
            <a:ext cx="548640" cy="365760"/>
          </a:xfrm>
          <a:prstGeom prst="rect">
            <a:avLst/>
          </a:prstGeom>
          <a:noFill/>
        </p:spPr>
        <p:txBody>
          <a:bodyPr wrap="square">
            <a:spAutoFit/>
          </a:bodyPr>
          <a:lstStyle/>
          <a:p>
            <a:pPr algn="l"/>
            <a:r>
              <a:rPr sz="1100" b="0" i="0">
                <a:solidFill>
                  <a:srgbClr val="5A5A5A"/>
                </a:solidFill>
                <a:latin typeface="Verdana"/>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